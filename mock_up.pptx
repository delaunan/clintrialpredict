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8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CDB64-498E-68A2-A6B4-BCC1B677B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6C34A3-071E-CE69-5A64-A04B49E60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5ABF7-5B2F-0EDD-2F01-B7716454C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C5D4-E4A0-4DFC-9411-08AF3B6419E8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62F79-7FF5-1C43-2C2E-ED40D25CC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F2E96-0737-D8A7-558A-54804DCE2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56D-9D7E-40C8-8E8A-684D438BB6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087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D81EF-665C-A17C-E6E8-473DE1D39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74FAE-9FA6-059C-EC26-1742E30EF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9572A-55C7-A1DF-C34A-3364B5401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C5D4-E4A0-4DFC-9411-08AF3B6419E8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A190D-ABE5-B37F-D57A-F77E0F85C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4803D-A023-3DE0-BF90-D9337DC8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56D-9D7E-40C8-8E8A-684D438BB6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6665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66BD0-B958-05EA-3029-B2E5DB598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50A28-4460-90EF-358C-CEC92194A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F860-FE50-32EB-B60A-21AF8AC4F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C5D4-E4A0-4DFC-9411-08AF3B6419E8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F71D9-79B1-AADC-B786-2B6D2855D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D31C3-3C5B-3A99-0934-CF7B5995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56D-9D7E-40C8-8E8A-684D438BB6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105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99D5-3B4D-ED70-FAAE-7682258A2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6C51F-BCDF-8C57-5A46-E316F02F8F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B8696-70BB-3965-BEA7-F2D56AA1D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3A23F-1E19-8F2D-767E-B665010D0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C5D4-E4A0-4DFC-9411-08AF3B6419E8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D1A06-AF57-C7A3-9854-75AF62CCF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95E9B-4B39-0A3F-61C4-ADFDE86CC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56D-9D7E-40C8-8E8A-684D438BB6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179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5285-A40E-DA38-8381-1B7B3BC1E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BC575-70B7-0E17-E18A-98B58BFBF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7A421-AC00-006C-7D0E-64F2F1328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115EAC-2034-30C3-750B-F4005EB096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1D9A-C311-5CA1-092F-38FE9E50F9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DE65FF-9FB9-1EAB-49FD-EF186D14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C5D4-E4A0-4DFC-9411-08AF3B6419E8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C94892-3656-4393-98B6-CD6193CA5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53339C-8BA3-D9AD-E62F-E8F517564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56D-9D7E-40C8-8E8A-684D438BB6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015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5F52B-6640-6672-3103-4FCB4AC72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91800E-E7DA-BF52-59A8-52E4BFC22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C5D4-E4A0-4DFC-9411-08AF3B6419E8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CD938E-3FB7-7326-17AF-E874762BC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31A3D9-11A2-1C7F-B1C0-43F4AB989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56D-9D7E-40C8-8E8A-684D438BB6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257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E1E0F7-F5FA-C00A-7D64-F462A5848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C5D4-E4A0-4DFC-9411-08AF3B6419E8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F2A4CE-FBB7-8D73-EE19-426EF89E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32DE9-6F01-3845-9D0C-3E026C938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56D-9D7E-40C8-8E8A-684D438BB6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528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1B63B-284C-BD78-CA01-CE8C3723D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70E40-8C6F-1199-1577-D353F6475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8E08E-D4B6-95D3-0411-8C281B5D0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988AD-A94C-DD1A-C5F8-DD53C10E7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C5D4-E4A0-4DFC-9411-08AF3B6419E8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D8DCF-FF1E-DEF2-4666-ECF038BBB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5998D-CA88-DC67-34D6-2C57B94E3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56D-9D7E-40C8-8E8A-684D438BB6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438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95C7E-05C8-2CC1-3041-440EA0DED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F55BEA-A94E-2299-CA22-9182757EB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9664E-90FC-BD7A-3094-17BA638FE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79CE8-6EC8-29A2-E4AF-A63EB27A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C5D4-E4A0-4DFC-9411-08AF3B6419E8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68484-844F-8A5A-1732-2F4BD1DE4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A98AE-B27D-4D17-D125-25233DF26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56D-9D7E-40C8-8E8A-684D438BB6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02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D377A-55F9-B2F9-3AE9-E89FB1845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DD217-B219-558F-B69D-4AF450372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E9161-C8DA-EB9A-64A1-CAED3D53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C5D4-E4A0-4DFC-9411-08AF3B6419E8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D7C9A-B16B-DE23-F6BD-F8121E3E0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94AE6-F9B1-69B0-EA40-180AA664A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56D-9D7E-40C8-8E8A-684D438BB6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139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91C8F8-F034-982D-EA52-6DA9BCAC72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7A131-231C-4BD4-CC51-668BA8728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920AD-EE13-4F4E-2C79-26C6FFE1F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BC5D4-E4A0-4DFC-9411-08AF3B6419E8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43733-3B93-D8A1-06F0-8D3C2133C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A5C23-6487-EEAD-E6C3-BAA1D7114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A256D-9D7E-40C8-8E8A-684D438BB6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027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EB5F9-68FF-3FF3-17FC-3BD4475E7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C18D5-E2D4-6B41-10FC-C43B83AC9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0C402-8B99-A864-5A03-B95F13EEC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BC5D4-E4A0-4DFC-9411-08AF3B6419E8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D47AA-9C5D-2102-4321-9186893C7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03067-B833-7F24-8AF7-8726EB4A2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A256D-9D7E-40C8-8E8A-684D438BB6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66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D0725B-8D56-FC4F-3A20-B31AB114A3D2}"/>
              </a:ext>
            </a:extLst>
          </p:cNvPr>
          <p:cNvSpPr/>
          <p:nvPr/>
        </p:nvSpPr>
        <p:spPr>
          <a:xfrm>
            <a:off x="1329180" y="1797393"/>
            <a:ext cx="9057083" cy="1465775"/>
          </a:xfrm>
          <a:prstGeom prst="roundRect">
            <a:avLst>
              <a:gd name="adj" fmla="val 1225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1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0C1DFF-DD18-CA76-61A3-B6AFFEB12ACD}"/>
              </a:ext>
            </a:extLst>
          </p:cNvPr>
          <p:cNvSpPr/>
          <p:nvPr/>
        </p:nvSpPr>
        <p:spPr>
          <a:xfrm>
            <a:off x="1433990" y="1892660"/>
            <a:ext cx="8878934" cy="125754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000" dirty="0"/>
              <a:t>Box 1 title and text in bold</a:t>
            </a:r>
          </a:p>
          <a:p>
            <a:pPr algn="ctr"/>
            <a:endParaRPr lang="en-GB" sz="10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2DA810-CFB4-A654-DFA0-419C83A65347}"/>
              </a:ext>
            </a:extLst>
          </p:cNvPr>
          <p:cNvSpPr/>
          <p:nvPr/>
        </p:nvSpPr>
        <p:spPr>
          <a:xfrm>
            <a:off x="5908531" y="3346516"/>
            <a:ext cx="4477732" cy="2667786"/>
          </a:xfrm>
          <a:prstGeom prst="roundRect">
            <a:avLst>
              <a:gd name="adj" fmla="val 643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E58514-6DA5-723A-3371-E1637B8CFFEA}"/>
              </a:ext>
            </a:extLst>
          </p:cNvPr>
          <p:cNvSpPr/>
          <p:nvPr/>
        </p:nvSpPr>
        <p:spPr>
          <a:xfrm>
            <a:off x="1329180" y="3346516"/>
            <a:ext cx="4477732" cy="2677212"/>
          </a:xfrm>
          <a:prstGeom prst="roundRect">
            <a:avLst>
              <a:gd name="adj" fmla="val 643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9DCC465-A390-9729-BC98-E99B40526608}"/>
              </a:ext>
            </a:extLst>
          </p:cNvPr>
          <p:cNvSpPr/>
          <p:nvPr/>
        </p:nvSpPr>
        <p:spPr>
          <a:xfrm>
            <a:off x="1433990" y="3429000"/>
            <a:ext cx="4231518" cy="12105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000" dirty="0"/>
              <a:t>Box 2 title and text</a:t>
            </a:r>
          </a:p>
          <a:p>
            <a:pPr algn="ctr"/>
            <a:endParaRPr lang="en-GB" sz="1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EFFB57C-F02C-F97E-91DE-15D312FBC78F}"/>
              </a:ext>
            </a:extLst>
          </p:cNvPr>
          <p:cNvSpPr/>
          <p:nvPr/>
        </p:nvSpPr>
        <p:spPr>
          <a:xfrm>
            <a:off x="1433990" y="4736344"/>
            <a:ext cx="4231518" cy="11962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/>
              <a:t>B</a:t>
            </a:r>
            <a:r>
              <a:rPr lang="en-GB" sz="1000" dirty="0"/>
              <a:t>ox 3 title and 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0B90E0-C72B-3BCB-B294-473D2BF6951B}"/>
              </a:ext>
            </a:extLst>
          </p:cNvPr>
          <p:cNvSpPr txBox="1"/>
          <p:nvPr/>
        </p:nvSpPr>
        <p:spPr>
          <a:xfrm>
            <a:off x="1329180" y="925396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3600" b="1" i="0" dirty="0" err="1">
                <a:solidFill>
                  <a:srgbClr val="334155"/>
                </a:solidFill>
                <a:effectLst/>
                <a:latin typeface="Inter"/>
              </a:rPr>
              <a:t>ClinTrialPred</a:t>
            </a:r>
            <a:r>
              <a:rPr lang="en-GB" sz="3600" b="1" dirty="0" err="1">
                <a:solidFill>
                  <a:srgbClr val="334155"/>
                </a:solidFill>
                <a:latin typeface="Inter"/>
              </a:rPr>
              <a:t>ict</a:t>
            </a:r>
            <a:r>
              <a:rPr lang="en-GB" sz="3600" b="1" i="0" dirty="0">
                <a:solidFill>
                  <a:srgbClr val="334155"/>
                </a:solidFill>
                <a:effectLst/>
                <a:latin typeface="Inter"/>
              </a:rPr>
              <a:t> </a:t>
            </a:r>
            <a:r>
              <a:rPr lang="en-GB" b="0" i="0" dirty="0">
                <a:solidFill>
                  <a:srgbClr val="94A3B8"/>
                </a:solidFill>
                <a:effectLst/>
                <a:latin typeface="Inter"/>
              </a:rPr>
              <a:t>demo version</a:t>
            </a:r>
            <a:endParaRPr lang="en-GB" b="1" i="0" dirty="0">
              <a:solidFill>
                <a:srgbClr val="334155"/>
              </a:solidFill>
              <a:effectLst/>
              <a:latin typeface="Inter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F7F031E-14CA-3820-3EBA-9E1BC7782ECB}"/>
              </a:ext>
            </a:extLst>
          </p:cNvPr>
          <p:cNvSpPr/>
          <p:nvPr/>
        </p:nvSpPr>
        <p:spPr>
          <a:xfrm>
            <a:off x="6257807" y="4198413"/>
            <a:ext cx="1882923" cy="24415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Company sponsor dropdown</a:t>
            </a:r>
            <a:endParaRPr lang="en-GB" sz="10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9BA330C-F77C-1EDF-FDE9-39E1BD951AB1}"/>
              </a:ext>
            </a:extLst>
          </p:cNvPr>
          <p:cNvSpPr/>
          <p:nvPr/>
        </p:nvSpPr>
        <p:spPr>
          <a:xfrm>
            <a:off x="8310969" y="4211019"/>
            <a:ext cx="1885361" cy="24415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/>
              <a:t>Therapeutic Area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CC9B641-84EB-EE74-6E4A-C0292D26088E}"/>
              </a:ext>
            </a:extLst>
          </p:cNvPr>
          <p:cNvSpPr/>
          <p:nvPr/>
        </p:nvSpPr>
        <p:spPr>
          <a:xfrm>
            <a:off x="8296342" y="4736344"/>
            <a:ext cx="1885361" cy="27337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Trial Phase</a:t>
            </a:r>
            <a:endParaRPr lang="en-GB" sz="1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42869B2-EC97-95D4-45AF-A2572C397507}"/>
              </a:ext>
            </a:extLst>
          </p:cNvPr>
          <p:cNvSpPr/>
          <p:nvPr/>
        </p:nvSpPr>
        <p:spPr>
          <a:xfrm>
            <a:off x="6236375" y="5303497"/>
            <a:ext cx="1885361" cy="27337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Start year</a:t>
            </a:r>
            <a:endParaRPr lang="en-GB" sz="10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36A3932-BEF9-5C77-F2BD-62989733620C}"/>
              </a:ext>
            </a:extLst>
          </p:cNvPr>
          <p:cNvSpPr/>
          <p:nvPr/>
        </p:nvSpPr>
        <p:spPr>
          <a:xfrm>
            <a:off x="8311077" y="5303497"/>
            <a:ext cx="1202727" cy="2943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Search Clinical Trials</a:t>
            </a:r>
            <a:endParaRPr lang="en-GB" sz="8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A6C0373-0831-4775-1C47-3450B7BB0B42}"/>
              </a:ext>
            </a:extLst>
          </p:cNvPr>
          <p:cNvSpPr/>
          <p:nvPr/>
        </p:nvSpPr>
        <p:spPr>
          <a:xfrm>
            <a:off x="9563295" y="5293636"/>
            <a:ext cx="667848" cy="29431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Reset</a:t>
            </a:r>
            <a:endParaRPr lang="en-GB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A8D658-CE7C-31A3-8769-BA40A629631F}"/>
              </a:ext>
            </a:extLst>
          </p:cNvPr>
          <p:cNvSpPr txBox="1"/>
          <p:nvPr/>
        </p:nvSpPr>
        <p:spPr>
          <a:xfrm>
            <a:off x="8791145" y="5664247"/>
            <a:ext cx="60944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0" i="0" dirty="0">
                <a:solidFill>
                  <a:srgbClr val="334155"/>
                </a:solidFill>
                <a:effectLst/>
                <a:latin typeface="Inter"/>
              </a:rPr>
              <a:t>x trials matching criteria</a:t>
            </a:r>
            <a:endParaRPr lang="en-GB" sz="10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F3BC3DF-6FB9-6609-DC7D-6730CD940DF0}"/>
              </a:ext>
            </a:extLst>
          </p:cNvPr>
          <p:cNvSpPr/>
          <p:nvPr/>
        </p:nvSpPr>
        <p:spPr>
          <a:xfrm>
            <a:off x="6257807" y="4736344"/>
            <a:ext cx="1904355" cy="2462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/>
              <a:t>Clinical trial number (AACT)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ECC7C4-69AC-3E5C-9FDB-77CDD0D4DCE8}"/>
              </a:ext>
            </a:extLst>
          </p:cNvPr>
          <p:cNvSpPr txBox="1"/>
          <p:nvPr/>
        </p:nvSpPr>
        <p:spPr>
          <a:xfrm>
            <a:off x="6096000" y="3739132"/>
            <a:ext cx="74430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1" dirty="0"/>
              <a:t>Title : </a:t>
            </a:r>
            <a:r>
              <a:rPr lang="en-GB" sz="1000" b="1" dirty="0" err="1"/>
              <a:t>Clinial</a:t>
            </a:r>
            <a:r>
              <a:rPr lang="en-GB" sz="1000" b="1" dirty="0"/>
              <a:t> trials Portfolio Selection Criteria</a:t>
            </a:r>
            <a:endParaRPr lang="en-GB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4BD698-6ED3-2228-AE79-E5D4ED676104}"/>
              </a:ext>
            </a:extLst>
          </p:cNvPr>
          <p:cNvSpPr txBox="1"/>
          <p:nvPr/>
        </p:nvSpPr>
        <p:spPr>
          <a:xfrm>
            <a:off x="5994610" y="3359952"/>
            <a:ext cx="28071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(Rectangle standing out a bit with the color shade)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671450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62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Inter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Delaunay</dc:creator>
  <cp:lastModifiedBy>Nicolas Delaunay</cp:lastModifiedBy>
  <cp:revision>2</cp:revision>
  <dcterms:created xsi:type="dcterms:W3CDTF">2026-03-30T12:46:03Z</dcterms:created>
  <dcterms:modified xsi:type="dcterms:W3CDTF">2026-03-30T13:11:35Z</dcterms:modified>
</cp:coreProperties>
</file>